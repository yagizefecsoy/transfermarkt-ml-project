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Giriş" id="{07d0b7fc-dfa1-374a-7e99-2be2b45a4b1d}">
          <p14:sldIdLst>
            <p14:sldId id="256"/>
          </p14:sldIdLst>
        </p14:section>
        <p14:section name="Algoritma" id="{eeed8ef1-2495-9117-ee46-cb3233d334c1}">
          <p14:sldIdLst>
            <p14:sldId id="257"/>
            <p14:sldId id="258"/>
            <p14:sldId id="259"/>
            <p14:sldId id="260"/>
          </p14:sldIdLst>
        </p14:section>
        <p14:section name="Proje yolculuğu" id="{8e0fda2b-4c6e-a060-dbe8-0cbafff2b275}">
          <p14:sldIdLst>
            <p14:sldId id="261"/>
            <p14:sldId id="262"/>
            <p14:sldId id="263"/>
            <p14:sldId id="264"/>
          </p14:sldIdLst>
        </p14:section>
        <p14:section name="Sonuçlar" id="{e45a50b5-6414-210e-ac7e-03cb1085464f}">
          <p14:sldIdLst>
            <p14:sldId id="265"/>
            <p14:sldId id="266"/>
            <p14:sldId id="267"/>
            <p14:sldId id="268"/>
            <p14:sldId id="269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1F2937"/>
                </a:solidFill>
                <a:latin typeface="+mj-lt"/>
              </a:defRPr>
            </a:pPr>
            <a:r>
              <a:rPr sz="1100" b="0" i="0" u="none" strike="noStrike">
                <a:solidFill>
                  <a:srgbClr val="1F2937"/>
                </a:solidFill>
                <a:latin typeface="+mj-lt"/>
              </a:rPr>
              <a:t>Medyan piyasa değeri (kümelemede kullanılmadı)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Medyan değer (M €)</c:v>
                </c:pt>
              </c:strCache>
            </c:strRef>
          </c:tx>
          <c:spPr>
            <a:solidFill>
              <a:srgbClr val="7B2CBF"/>
            </a:solidFill>
            <a:effectLst/>
          </c:spPr>
          <c:invertIfNegative val="0"/>
          <c:dLbls>
            <c:numFmt formatCode="0.0&quot;M €&quot;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F2937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7B2CBF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7B2CB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7B2CBF"/>
              </a:solidFill>
              <a:effectLst/>
            </c:spPr>
          </c:dPt>
          <c:cat>
            <c:multiLvlStrRef>
              <c:f>Sheet1!$A$2:$A$4</c:f>
              <c:multiLvlStrCache>
                <c:ptCount val="3"/>
                <c:lvl>
                  <c:pt idx="0">
                    <c:v>Genç / az deneyimli (9.946)</c:v>
                  </c:pt>
                  <c:pt idx="1">
                    <c:v>Deneyimli, düzenli (3.140)</c:v>
                  </c:pt>
                  <c:pt idx="2">
                    <c:v>Yıldız / golcü (319)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0.7</c:v>
                </c:pt>
                <c:pt idx="1">
                  <c:v>1.4</c:v>
                </c:pt>
                <c:pt idx="2">
                  <c:v>3.5</c:v>
                </c:pt>
              </c:numCache>
            </c:numRef>
          </c:val>
        </c:ser>
        <c:dLbls>
          <c:numFmt formatCode="0.0&quot;M €&quot;" sourceLinked="0"/>
          <c:txPr>
            <a:bodyPr/>
            <a:lstStyle/>
            <a:p>
              <a:pPr>
                <a:defRPr b="0" i="0" strike="noStrike" sz="1100" u="none">
                  <a:solidFill>
                    <a:srgbClr val="1F2937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1F2937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4.5"/>
          <c:min val="0"/>
        </c:scaling>
        <c:delete val="1"/>
        <c:axPos val="b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Aynı Transfermarkt verisiyle, etiket kullanmadan oyuncuları gruplara ayıran denetimsiz öğrenme modelimi anlatıyorum.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Doğru cevap yok; algoritma oyuncuları sadece özelliklerine bakarak, birbirine yakın olanları aynı kümeye koyuyor.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Kapak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1D5DB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olum">
    <p:bg>
      <p:bgPr>
        <a:solidFill>
          <a:srgbClr val="1B24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rgbClr val="D1D5DB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ceri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000" dirty="0"/>
          </a:p>
        </p:txBody>
      </p:sp>
      <p:sp>
        <p:nvSpPr>
          <p:cNvPr id="3" name="Text 0"/>
          <p:cNvSpPr/>
          <p:nvPr/>
        </p:nvSpPr>
        <p:spPr>
          <a:xfrm>
            <a:off x="457200" y="4800600"/>
            <a:ext cx="6400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</a:rPr>
              <a:t>Yağız Efe Çiçekçisoy · Foundations &amp; Applications of AI · Assignment 1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chart" Target="/ppt/charts/chart3.xml"/><Relationship Id="rId1" Type="http://schemas.openxmlformats.org/officeDocument/2006/relationships/image" Target="../media/image-11-1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685800"/>
            <a:ext cx="2651760" cy="411480"/>
          </a:xfrm>
          <a:prstGeom prst="roundRect">
            <a:avLst>
              <a:gd name="adj" fmla="val 48889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685800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Clustering · K-Means</a:t>
            </a:r>
            <a:endParaRPr lang="en-US" sz="1400" dirty="0"/>
          </a:p>
        </p:txBody>
      </p:sp>
      <p:sp>
        <p:nvSpPr>
          <p:cNvPr id="4" name="Text 0"/>
          <p:cNvSpPr/>
          <p:nvPr>
            <p:ph idx="100" type="title" hasCustomPrompt="1"/>
          </p:nvPr>
        </p:nvSpPr>
        <p:spPr>
          <a:xfrm>
            <a:off x="548640" y="1234440"/>
            <a:ext cx="8046720" cy="146304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K-Means ile Futbolcu Segmentasyonu</a:t>
            </a:r>
            <a:endParaRPr lang="en-US" sz="3800" dirty="0"/>
          </a:p>
        </p:txBody>
      </p:sp>
      <p:sp>
        <p:nvSpPr>
          <p:cNvPr id="5" name="Text 0"/>
          <p:cNvSpPr/>
          <p:nvPr>
            <p:ph idx="101" type="body" hasCustomPrompt="1"/>
          </p:nvPr>
        </p:nvSpPr>
        <p:spPr>
          <a:xfrm>
            <a:off x="548640" y="2880360"/>
            <a:ext cx="80467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rgbClr val="D1D5DB"/>
                </a:solidFill>
              </a:rPr>
              <a:t>Yağız Efe Çiçekçisoy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Foundations &amp; Applications of AI · Assignment 1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Ekim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Temel fikir: benzer oyuncuları grupla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457200" y="114300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7B2C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457200" y="1143000"/>
            <a:ext cx="1874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  Başlat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K merkez seç (k-means++)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350008" y="1463040"/>
            <a:ext cx="182880" cy="27432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560320" y="114300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7B2C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560320" y="1143000"/>
            <a:ext cx="1874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  Ata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her oyuncu en yakın merkeze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453128" y="1463040"/>
            <a:ext cx="182880" cy="27432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63440" y="114300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7B2CB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663440" y="1143000"/>
            <a:ext cx="1874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  Güncelle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merkez = grubun ortalaması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556248" y="1463040"/>
            <a:ext cx="182880" cy="274320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0" y="1143000"/>
            <a:ext cx="1874520" cy="914400"/>
          </a:xfrm>
          <a:prstGeom prst="roundRect">
            <a:avLst>
              <a:gd name="adj" fmla="val 12000"/>
            </a:avLst>
          </a:prstGeom>
          <a:solidFill>
            <a:srgbClr val="1B243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766560" y="1143000"/>
            <a:ext cx="187452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  Tekrarla</a:t>
            </a:r>
            <a:endParaRPr lang="en-US" sz="14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merkezler sabitlenene kadar</a:t>
            </a:r>
            <a:endParaRPr lang="en-US" sz="1400" dirty="0"/>
          </a:p>
        </p:txBody>
      </p:sp>
      <p:pic>
        <p:nvPicPr>
          <p:cNvPr id="14" name="Image 0" descr="C:\Users\pc\AppData\Local\Temp\claude\C--Users-pc-Desktop-24-10-2026--devler\9e5358d5-cdd5-494c-8e75-6a17e77169ad\scratchpad\deck\fig\km_steps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2286000"/>
            <a:ext cx="8229600" cy="242316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Matematik: merkeze yakınlık</a:t>
            </a:r>
            <a:endParaRPr lang="en-US" sz="3000" dirty="0"/>
          </a:p>
        </p:txBody>
      </p:sp>
      <p:sp>
        <p:nvSpPr>
          <p:cNvPr id="3" name="kart"/>
          <p:cNvSpPr/>
          <p:nvPr/>
        </p:nvSpPr>
        <p:spPr>
          <a:xfrm>
            <a:off x="457200" y="1097280"/>
            <a:ext cx="8229600" cy="1600200"/>
          </a:xfrm>
          <a:prstGeom prst="roundRect">
            <a:avLst>
              <a:gd name="adj" fmla="val 6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85800" y="123444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CBF"/>
                </a:solidFill>
              </a:rPr>
              <a:t>Amaç</a:t>
            </a:r>
            <a:endParaRPr lang="en-US" sz="1500" dirty="0"/>
          </a:p>
        </p:txBody>
      </p:sp>
      <p:pic>
        <p:nvPicPr>
          <p:cNvPr id="5" name="Image 0" descr="C:\Users\pc\AppData\Local\Temp\claude\C--Users-pc-Desktop-24-10-2026--devler\9e5358d5-cdd5-494c-8e75-6a17e77169ad\scratchpad\deck\fig\s_km_obj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85800" y="1645920"/>
            <a:ext cx="4023360" cy="8686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029200" y="128016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Her oyuncunun kendi küme merkezine (μ) uzaklığının karesini topla ve bu toplamı küçült.</a:t>
            </a:r>
            <a:endParaRPr lang="en-US" sz="1400" dirty="0"/>
          </a:p>
        </p:txBody>
      </p:sp>
      <p:sp>
        <p:nvSpPr>
          <p:cNvPr id="7" name="kart"/>
          <p:cNvSpPr/>
          <p:nvPr/>
        </p:nvSpPr>
        <p:spPr>
          <a:xfrm>
            <a:off x="457200" y="2971800"/>
            <a:ext cx="8229600" cy="1600200"/>
          </a:xfrm>
          <a:prstGeom prst="roundRect">
            <a:avLst>
              <a:gd name="adj" fmla="val 685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85800" y="310896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7B2CBF"/>
                </a:solidFill>
              </a:rPr>
              <a:t>İki adım, tekrar tekrar</a:t>
            </a:r>
            <a:endParaRPr lang="en-US" sz="1500" dirty="0"/>
          </a:p>
        </p:txBody>
      </p:sp>
      <p:pic>
        <p:nvPicPr>
          <p:cNvPr id="9" name="Image 1" descr="C:\Users\pc\AppData\Local\Temp\claude\C--Users-pc-Desktop-24-10-2026--devler\9e5358d5-cdd5-494c-8e75-6a17e77169ad\scratchpad\deck\fig\km_f_assign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85800" y="3520440"/>
            <a:ext cx="4023360" cy="86868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5029200" y="3154680"/>
            <a:ext cx="34747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Ata: her oyuncu en yakın merkeze gider. Güncelle: merkez, kümesindeki oyuncuların ortalaması olur.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Eğitim süreci</a:t>
            </a:r>
            <a:endParaRPr lang="en-US" sz="3000" dirty="0"/>
          </a:p>
        </p:txBody>
      </p:sp>
      <p:sp>
        <p:nvSpPr>
          <p:cNvPr id="3" name="adim"/>
          <p:cNvSpPr/>
          <p:nvPr/>
        </p:nvSpPr>
        <p:spPr>
          <a:xfrm>
            <a:off x="457200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Özellik seçimi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10 sayısal özellik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949501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adim"/>
          <p:cNvSpPr/>
          <p:nvPr/>
        </p:nvSpPr>
        <p:spPr>
          <a:xfrm>
            <a:off x="2150669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205533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Ölçekleme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StandardScaler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642970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adim"/>
          <p:cNvSpPr/>
          <p:nvPr/>
        </p:nvSpPr>
        <p:spPr>
          <a:xfrm>
            <a:off x="3844138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3899002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 = 2…10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inertia + silhouette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336438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adim"/>
          <p:cNvSpPr/>
          <p:nvPr/>
        </p:nvSpPr>
        <p:spPr>
          <a:xfrm>
            <a:off x="5537606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592470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 seçimi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K≥3 içinde en iyi silhouette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029907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5" name="adim"/>
          <p:cNvSpPr/>
          <p:nvPr/>
        </p:nvSpPr>
        <p:spPr>
          <a:xfrm>
            <a:off x="7231075" y="1188720"/>
            <a:ext cx="1455725" cy="1051560"/>
          </a:xfrm>
          <a:prstGeom prst="roundRect">
            <a:avLst>
              <a:gd name="adj" fmla="val 10435"/>
            </a:avLst>
          </a:prstGeom>
          <a:solidFill>
            <a:srgbClr val="264653"/>
          </a:solidFill>
          <a:ln w="12700">
            <a:solidFill>
              <a:srgbClr val="26465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285939" y="1188720"/>
            <a:ext cx="1345997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Final model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 = 3, n_init = 10</a:t>
            </a:r>
            <a:endParaRPr lang="en-US" sz="1300" dirty="0"/>
          </a:p>
        </p:txBody>
      </p:sp>
      <p:sp>
        <p:nvSpPr>
          <p:cNvPr id="17" name="kart"/>
          <p:cNvSpPr/>
          <p:nvPr/>
        </p:nvSpPr>
        <p:spPr>
          <a:xfrm>
            <a:off x="457200" y="2514600"/>
            <a:ext cx="39776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40080" y="265176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2CBF"/>
                </a:solidFill>
              </a:rPr>
              <a:t>Lloyd algoritması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Ata ve güncelle adımlarının her biri toplam uzaklığı azaltır ya da sabit tutar; bu yüzden algoritma her zaman yakınsar. Sonuç başlangıca bağlı olduğu için 10 farklı başlangıçtan en iyisi alınır.</a:t>
            </a:r>
            <a:endParaRPr lang="en-US" sz="1300" dirty="0"/>
          </a:p>
        </p:txBody>
      </p:sp>
      <p:sp>
        <p:nvSpPr>
          <p:cNvPr id="19" name="kart"/>
          <p:cNvSpPr/>
          <p:nvPr/>
        </p:nvSpPr>
        <p:spPr>
          <a:xfrm>
            <a:off x="4709160" y="2514600"/>
            <a:ext cx="3977640" cy="2103120"/>
          </a:xfrm>
          <a:prstGeom prst="roundRect">
            <a:avLst>
              <a:gd name="adj" fmla="val 52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4892040" y="2651760"/>
            <a:ext cx="361188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2CBF"/>
                </a:solidFill>
              </a:rPr>
              <a:t>Neden ölçekleme şart?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Toplam dakika binlerle, maç başına gol 0–1 arasında. Ölçeklemeden uzaklığı neredeyse sadece dakika belirlerdi.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Tahmin: yeni oyuncu hangi kümede?</a:t>
            </a:r>
            <a:endParaRPr lang="en-US" sz="3000" dirty="0"/>
          </a:p>
        </p:txBody>
      </p:sp>
      <p:sp>
        <p:nvSpPr>
          <p:cNvPr id="3" name="adim"/>
          <p:cNvSpPr/>
          <p:nvPr/>
        </p:nvSpPr>
        <p:spPr>
          <a:xfrm>
            <a:off x="457200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Yeni oyuncu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10 sayısal özellik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72868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adim"/>
          <p:cNvSpPr/>
          <p:nvPr/>
        </p:nvSpPr>
        <p:spPr>
          <a:xfrm>
            <a:off x="2574036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28900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Ölçekle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eğitimdeki ort. ve std ile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9704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adim"/>
          <p:cNvSpPr/>
          <p:nvPr/>
        </p:nvSpPr>
        <p:spPr>
          <a:xfrm>
            <a:off x="4690872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5736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Uzaklık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3 merkeze olan mesafe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06540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adim"/>
          <p:cNvSpPr/>
          <p:nvPr/>
        </p:nvSpPr>
        <p:spPr>
          <a:xfrm>
            <a:off x="6807708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62572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Küme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en yakın merkez</a:t>
            </a:r>
            <a:endParaRPr lang="en-US" sz="1300" dirty="0"/>
          </a:p>
        </p:txBody>
      </p:sp>
      <p:pic>
        <p:nvPicPr>
          <p:cNvPr id="14" name="Image 0" descr="C:\Users\pc\AppData\Local\Temp\claude\C--Users-pc-Desktop-24-10-2026--devler\9e5358d5-cdd5-494c-8e75-6a17e77169ad\scratchpad\deck\fig\km_f_assign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548640" y="2514600"/>
            <a:ext cx="3108960" cy="685800"/>
          </a:xfrm>
          <a:prstGeom prst="rect">
            <a:avLst/>
          </a:prstGeom>
        </p:spPr>
      </p:pic>
      <p:sp>
        <p:nvSpPr>
          <p:cNvPr id="15" name="kart"/>
          <p:cNvSpPr/>
          <p:nvPr/>
        </p:nvSpPr>
        <p:spPr>
          <a:xfrm>
            <a:off x="3931920" y="2468880"/>
            <a:ext cx="4754880" cy="2148840"/>
          </a:xfrm>
          <a:prstGeom prst="roundRect">
            <a:avLst>
              <a:gd name="adj" fmla="val 5106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114800" y="2606040"/>
            <a:ext cx="4389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7B2CBF"/>
                </a:solidFill>
              </a:rPr>
              <a:t>Örnek: Victor Osimhen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</a:rPr>
              <a:t>27 yaş · 279 maç · 161 gol · 52 milli maç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1F2937"/>
                </a:solidFill>
              </a:rPr>
              <a:t> 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F2937"/>
                </a:solidFill>
              </a:rPr>
              <a:t>→ Küme 2: Kariyerli yıldızlar ve golcüler</a:t>
            </a:r>
            <a:endParaRPr lang="en-US" sz="1400" dirty="0"/>
          </a:p>
        </p:txBody>
      </p:sp>
      <p:sp>
        <p:nvSpPr>
          <p:cNvPr id="17" name="Text 14"/>
          <p:cNvSpPr txBox="1"/>
          <p:nvPr/>
        </p:nvSpPr>
        <p:spPr>
          <a:xfrm>
            <a:off x="548640" y="3429000"/>
            <a:ext cx="320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Kümeleme etiket kullanmaz; piyasa değeri sadece sonradan kümeleri yorumlamak için kullanıldı.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 yolculuğum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</a:rPr>
              <a:t>Önce kendim kurdum, sonra AI Agent'ımdan aldığım önerileri inceleyip uyguladım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 ve özellikler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B2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13.405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aktif oyuncu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24612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24612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sayısal özellik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118872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035040" y="187452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etiket (denetimsiz)</a:t>
            </a:r>
            <a:endParaRPr lang="en-US" sz="1200" dirty="0"/>
          </a:p>
        </p:txBody>
      </p:sp>
      <p:sp>
        <p:nvSpPr>
          <p:cNvPr id="9" name="kart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743200"/>
            <a:ext cx="7772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1F2937"/>
                </a:solidFill>
              </a:rPr>
              <a:t>Özellikler: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</a:rPr>
              <a:t>yaş, boy, milli maç, milli gol, kariyer maç / gol / asist / dakika, maç başına gol, maç başına dakika</a:t>
            </a:r>
            <a:endParaRPr lang="en-US" sz="13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B2CBF"/>
                </a:solidFill>
              </a:rPr>
              <a:t>Benim kararım: </a:t>
            </a:r>
            <a:pPr indent="0" marL="0">
              <a:spcAft>
                <a:spcPts val="600"/>
              </a:spcAft>
              <a:buNone/>
            </a:pPr>
            <a:r>
              <a:rPr lang="en-US" sz="1350" dirty="0">
                <a:solidFill>
                  <a:srgbClr val="1F2937"/>
                </a:solidFill>
              </a:rPr>
              <a:t>one-hot kategorik sütunları (lig, uyruk) kullanmadım; 0/1 sütunlar mesafe hesabını bozar. Piyasa değerini de kümelemeye sokmadım; kümelerin anlamlı olup olmadığını test etmek için dışarıda tuttum.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Benim kurduğum ilk sürüm</a:t>
            </a:r>
            <a:endParaRPr lang="en-US" sz="3000" dirty="0"/>
          </a:p>
        </p:txBody>
      </p:sp>
      <p:sp>
        <p:nvSpPr>
          <p:cNvPr id="3" name="adim"/>
          <p:cNvSpPr/>
          <p:nvPr/>
        </p:nvSpPr>
        <p:spPr>
          <a:xfrm>
            <a:off x="457200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12064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Özellikler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10 sayısal sütun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372868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6" name="adim"/>
          <p:cNvSpPr/>
          <p:nvPr/>
        </p:nvSpPr>
        <p:spPr>
          <a:xfrm>
            <a:off x="2574036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2628900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Ölçekleme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StandardScaler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489704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9" name="adim"/>
          <p:cNvSpPr/>
          <p:nvPr/>
        </p:nvSpPr>
        <p:spPr>
          <a:xfrm>
            <a:off x="4690872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745736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Elbow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K = 2…10 inertia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606540" y="1595628"/>
            <a:ext cx="164592" cy="237744"/>
          </a:xfrm>
          <a:prstGeom prst="rightArrow">
            <a:avLst/>
          </a:prstGeom>
          <a:solidFill>
            <a:srgbClr val="9CA3AF"/>
          </a:solidFill>
          <a:ln w="12700">
            <a:solidFill>
              <a:srgbClr val="9CA3AF"/>
            </a:solidFill>
            <a:prstDash val="solid"/>
          </a:ln>
        </p:spPr>
      </p:sp>
      <p:sp>
        <p:nvSpPr>
          <p:cNvPr id="12" name="adim"/>
          <p:cNvSpPr/>
          <p:nvPr/>
        </p:nvSpPr>
        <p:spPr>
          <a:xfrm>
            <a:off x="6807708" y="1188720"/>
            <a:ext cx="1879092" cy="1051560"/>
          </a:xfrm>
          <a:prstGeom prst="roundRect">
            <a:avLst>
              <a:gd name="adj" fmla="val 10435"/>
            </a:avLst>
          </a:prstGeom>
          <a:solidFill>
            <a:srgbClr val="1B2432"/>
          </a:solidFill>
          <a:ln w="12700">
            <a:solidFill>
              <a:srgbClr val="1B2432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862572" y="1188720"/>
            <a:ext cx="176936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K = 5</a:t>
            </a:r>
            <a:endParaRPr lang="en-US" sz="130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dirseğe göz kararı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B2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64008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küme (elbow ile)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60604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0,21</a:t>
            </a:r>
            <a:endParaRPr lang="en-US" sz="4000" dirty="0"/>
          </a:p>
        </p:txBody>
      </p:sp>
      <p:sp>
        <p:nvSpPr>
          <p:cNvPr id="17" name="Text 15"/>
          <p:cNvSpPr txBox="1"/>
          <p:nvPr/>
        </p:nvSpPr>
        <p:spPr>
          <a:xfrm>
            <a:off x="3291840" y="3291840"/>
            <a:ext cx="2377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silhouette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943600" y="26060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1,8–14,9M</a:t>
            </a:r>
            <a:endParaRPr lang="en-US" sz="32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2918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kümelerin ort. değeri (€)</a:t>
            </a:r>
            <a:endParaRPr lang="en-US" sz="12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402336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B7280"/>
                </a:solidFill>
              </a:rPr>
              <a:t>Kümeler değere göre ayrışıyordu ama K seçimimin sayısal bir gerekçesi yoktu.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Agent'ımdan aldığım geliştirme önerileri</a:t>
            </a:r>
            <a:endParaRPr lang="en-US" sz="3000" dirty="0"/>
          </a:p>
        </p:txBody>
      </p:sp>
      <p:sp>
        <p:nvSpPr>
          <p:cNvPr id="3" name="kart"/>
          <p:cNvSpPr/>
          <p:nvPr/>
        </p:nvSpPr>
        <p:spPr>
          <a:xfrm>
            <a:off x="457200" y="1097280"/>
            <a:ext cx="2590800" cy="3520440"/>
          </a:xfrm>
          <a:prstGeom prst="roundRect">
            <a:avLst>
              <a:gd name="adj" fmla="val 423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40080" y="1234440"/>
            <a:ext cx="384048" cy="384048"/>
          </a:xfrm>
          <a:prstGeom prst="ellipse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1216152"/>
            <a:ext cx="176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2"/>
                </a:solidFill>
              </a:rPr>
              <a:t>K seçimi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1828800"/>
            <a:ext cx="222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Önce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05740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K=5'i elbow grafiğine göz kararı bakarak seçmiştim.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40080" y="2926080"/>
            <a:ext cx="222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B2CBF"/>
                </a:solidFill>
              </a:rPr>
              <a:t>Öneri → karar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3154680"/>
            <a:ext cx="222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Her K için silhouette hesaplamayı önerdi. Uyguladım; kuralla K=3 seçildi (0,21 → 0,33).</a:t>
            </a:r>
            <a:endParaRPr lang="en-US" sz="1200" dirty="0"/>
          </a:p>
        </p:txBody>
      </p:sp>
      <p:sp>
        <p:nvSpPr>
          <p:cNvPr id="11" name="kart"/>
          <p:cNvSpPr/>
          <p:nvPr/>
        </p:nvSpPr>
        <p:spPr>
          <a:xfrm>
            <a:off x="3276600" y="1097280"/>
            <a:ext cx="2590800" cy="3520440"/>
          </a:xfrm>
          <a:prstGeom prst="roundRect">
            <a:avLst>
              <a:gd name="adj" fmla="val 423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459480" y="1234440"/>
            <a:ext cx="384048" cy="384048"/>
          </a:xfrm>
          <a:prstGeom prst="ellipse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34594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3962400" y="1216152"/>
            <a:ext cx="176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2"/>
                </a:solidFill>
              </a:rPr>
              <a:t>Ek ölçütler</a:t>
            </a:r>
            <a:endParaRPr lang="en-US" sz="1450" dirty="0"/>
          </a:p>
        </p:txBody>
      </p:sp>
      <p:sp>
        <p:nvSpPr>
          <p:cNvPr id="15" name="Text 13"/>
          <p:cNvSpPr txBox="1"/>
          <p:nvPr/>
        </p:nvSpPr>
        <p:spPr>
          <a:xfrm>
            <a:off x="3459480" y="1828800"/>
            <a:ext cx="222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Önce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459480" y="205740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Tek ölçüt silhouette'ti.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3459480" y="2926080"/>
            <a:ext cx="222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B2CBF"/>
                </a:solidFill>
              </a:rPr>
              <a:t>Öneri → karar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3459480" y="3154680"/>
            <a:ext cx="222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Davies-Bouldin ve Calinski-Harabasz eklemeyi önerdi. Ekledim; üçü birlikte raporlanıyor.</a:t>
            </a:r>
            <a:endParaRPr lang="en-US" sz="1200" dirty="0"/>
          </a:p>
        </p:txBody>
      </p:sp>
      <p:sp>
        <p:nvSpPr>
          <p:cNvPr id="19" name="kart"/>
          <p:cNvSpPr/>
          <p:nvPr/>
        </p:nvSpPr>
        <p:spPr>
          <a:xfrm>
            <a:off x="6096000" y="1097280"/>
            <a:ext cx="2590800" cy="3520440"/>
          </a:xfrm>
          <a:prstGeom prst="roundRect">
            <a:avLst>
              <a:gd name="adj" fmla="val 423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278880" y="1234440"/>
            <a:ext cx="384048" cy="384048"/>
          </a:xfrm>
          <a:prstGeom prst="ellipse">
            <a:avLst/>
          </a:prstGeom>
          <a:solidFill>
            <a:srgbClr val="7B2CBF"/>
          </a:solidFill>
          <a:ln w="12700">
            <a:solidFill>
              <a:srgbClr val="7B2CB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278880" y="12344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81800" y="1216152"/>
            <a:ext cx="176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2432"/>
                </a:solidFill>
              </a:rPr>
              <a:t>Kaydet ve kullan</a:t>
            </a:r>
            <a:endParaRPr lang="en-US" sz="1450" dirty="0"/>
          </a:p>
        </p:txBody>
      </p:sp>
      <p:sp>
        <p:nvSpPr>
          <p:cNvPr id="23" name="Text 21"/>
          <p:cNvSpPr txBox="1"/>
          <p:nvPr/>
        </p:nvSpPr>
        <p:spPr>
          <a:xfrm>
            <a:off x="6278880" y="1828800"/>
            <a:ext cx="222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6B7280"/>
                </a:solidFill>
              </a:rPr>
              <a:t>Önce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6278880" y="2057400"/>
            <a:ext cx="22250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Kümeler sadece terminalde görünüyordu.</a:t>
            </a:r>
            <a:endParaRPr lang="en-US" sz="1200" dirty="0"/>
          </a:p>
        </p:txBody>
      </p:sp>
      <p:sp>
        <p:nvSpPr>
          <p:cNvPr id="25" name="Text 23"/>
          <p:cNvSpPr txBox="1"/>
          <p:nvPr/>
        </p:nvSpPr>
        <p:spPr>
          <a:xfrm>
            <a:off x="6278880" y="2926080"/>
            <a:ext cx="2225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7B2CBF"/>
                </a:solidFill>
              </a:rPr>
              <a:t>Öneri → karar</a:t>
            </a:r>
            <a:endParaRPr lang="en-US" sz="1050" dirty="0"/>
          </a:p>
        </p:txBody>
      </p:sp>
      <p:sp>
        <p:nvSpPr>
          <p:cNvPr id="26" name="Text 24"/>
          <p:cNvSpPr txBox="1"/>
          <p:nvPr/>
        </p:nvSpPr>
        <p:spPr>
          <a:xfrm>
            <a:off x="6278880" y="3154680"/>
            <a:ext cx="2225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</a:rPr>
              <a:t>Modeli kaydedip yeni oyuncuya küme atamayı önerdi. predict.py ile uyguladım.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 seçimi: elbow ve silhouette birlikte</a:t>
            </a:r>
            <a:endParaRPr lang="en-US" sz="3000" dirty="0"/>
          </a:p>
        </p:txBody>
      </p:sp>
      <p:pic>
        <p:nvPicPr>
          <p:cNvPr id="3" name="Image 0" descr="C:\Users\pc\PycharmProjects\transfermarkt-ml-project\reports\figures\k_secimi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5120640" cy="3291840"/>
          </a:xfrm>
          <a:prstGeom prst="rect">
            <a:avLst/>
          </a:prstGeom>
        </p:spPr>
      </p:pic>
      <p:sp>
        <p:nvSpPr>
          <p:cNvPr id="4" name="kart"/>
          <p:cNvSpPr/>
          <p:nvPr/>
        </p:nvSpPr>
        <p:spPr>
          <a:xfrm>
            <a:off x="5852160" y="1097280"/>
            <a:ext cx="2834640" cy="3520440"/>
          </a:xfrm>
          <a:prstGeom prst="roundRect">
            <a:avLst>
              <a:gd name="adj" fmla="val 3871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035040" y="1234440"/>
            <a:ext cx="25146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7B2CBF"/>
                </a:solidFill>
              </a:rPr>
              <a:t>Kural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K=2 en yüksek (0,45) ama sadece "çok oynayan / az oynayan" ayrımı.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1F2937"/>
                </a:solidFill>
              </a:rPr>
              <a:t>K≥3 içinde en iyi: K=3 (0,33).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 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F2937"/>
                </a:solidFill>
              </a:rPr>
              <a:t>K≥4'te skor 0,20–0,21'e düşüyor.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Bulunan 3 küme</a:t>
            </a:r>
            <a:endParaRPr lang="en-US" sz="3000" dirty="0"/>
          </a:p>
        </p:txBody>
      </p:sp>
      <p:pic>
        <p:nvPicPr>
          <p:cNvPr id="3" name="Image 0" descr="C:\Users\pc\PycharmProjects\transfermarkt-ml-project\reports\figures\kumeler_pca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7200" y="960120"/>
            <a:ext cx="4023360" cy="3566160"/>
          </a:xfrm>
          <a:prstGeom prst="rect">
            <a:avLst/>
          </a:prstGeom>
        </p:spPr>
      </p:pic>
      <p:graphicFrame>
        <p:nvGraphicFramePr>
          <p:cNvPr id="4" name="Chart 0" descr=""/>
          <p:cNvGraphicFramePr/>
          <p:nvPr/>
        </p:nvGraphicFramePr>
        <p:xfrm>
          <a:off x="4663440" y="1005840"/>
          <a:ext cx="4023360" cy="24688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 1"/>
          <p:cNvSpPr txBox="1"/>
          <p:nvPr/>
        </p:nvSpPr>
        <p:spPr>
          <a:xfrm>
            <a:off x="4663440" y="3611880"/>
            <a:ext cx="4023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Ort. yaş 26 → 32 → 33 · ort. maç 38 → 217 → 386 · ort. milli maç 5 → 18 → 70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Kümeleme ölçütleri (K = 3)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7B2CB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0,33</a:t>
            </a:r>
            <a:endParaRPr lang="en-US" sz="40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Silhouette (−1…1, büyük iyi)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338328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1,32</a:t>
            </a:r>
            <a:endParaRPr lang="en-US" sz="4000" dirty="0"/>
          </a:p>
        </p:txBody>
      </p:sp>
      <p:sp>
        <p:nvSpPr>
          <p:cNvPr id="6" name="Text 4"/>
          <p:cNvSpPr txBox="1"/>
          <p:nvPr/>
        </p:nvSpPr>
        <p:spPr>
          <a:xfrm>
            <a:off x="33832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Davies-Bouldin (küçük iyi)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234440"/>
            <a:ext cx="25603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000" b="1" dirty="0">
                <a:solidFill>
                  <a:srgbClr val="1B243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4.092</a:t>
            </a:r>
            <a:endParaRPr lang="en-US" sz="4000" dirty="0"/>
          </a:p>
        </p:txBody>
      </p:sp>
      <p:sp>
        <p:nvSpPr>
          <p:cNvPr id="8" name="Text 6"/>
          <p:cNvSpPr txBox="1"/>
          <p:nvPr/>
        </p:nvSpPr>
        <p:spPr>
          <a:xfrm>
            <a:off x="6126480" y="19202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</a:rPr>
              <a:t>Calinski-Harabasz (büyük iyi)</a:t>
            </a:r>
            <a:endParaRPr lang="en-US" sz="1200" dirty="0"/>
          </a:p>
        </p:txBody>
      </p:sp>
      <p:sp>
        <p:nvSpPr>
          <p:cNvPr id="9" name="kart"/>
          <p:cNvSpPr/>
          <p:nvPr/>
        </p:nvSpPr>
        <p:spPr>
          <a:xfrm>
            <a:off x="457200" y="2606040"/>
            <a:ext cx="8229600" cy="2011680"/>
          </a:xfrm>
          <a:prstGeom prst="roundRect">
            <a:avLst>
              <a:gd name="adj" fmla="val 5455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85800" y="2743200"/>
            <a:ext cx="777240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350" b="1" dirty="0">
                <a:solidFill>
                  <a:srgbClr val="7B2CBF"/>
                </a:solidFill>
              </a:rPr>
              <a:t>Yorum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Kümeleme piyasa değerini hiç görmedi, ama gruplar değere göre sıralandı (0,7 → 1,4 → 3,5M €): kümeler anlamlı.</a:t>
            </a:r>
            <a:endParaRPr lang="en-US" sz="13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350" dirty="0">
                <a:solidFill>
                  <a:srgbClr val="1F2937"/>
                </a:solidFill>
              </a:rPr>
              <a:t>Silhouette 0,33 orta düzey: oyuncular kesin tiplerden çok "az deneyimliden çok deneyimliye" uzanan bir çizgide dağılıyor.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2860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chemeClr val="tx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Avantajlar ve sınırlar</a:t>
            </a:r>
            <a:endParaRPr lang="en-US" sz="3000" dirty="0"/>
          </a:p>
        </p:txBody>
      </p:sp>
      <p:sp>
        <p:nvSpPr>
          <p:cNvPr id="3" name="kart"/>
          <p:cNvSpPr/>
          <p:nvPr/>
        </p:nvSpPr>
        <p:spPr>
          <a:xfrm>
            <a:off x="45720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85800" y="1261872"/>
            <a:ext cx="457200" cy="457200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✓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1280160" y="1307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2A9D8F"/>
                </a:solidFill>
              </a:rPr>
              <a:t>Güçlü yanlar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04672" y="1993392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97280" y="1874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Basit, hızlı, 13 bin oyuncuda saniyeler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804672" y="2615184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097280" y="24963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Merkezler doğrudan yorumlanabilir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804672" y="3236976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1097280" y="31181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Yeni oyuncuya anında küme atanır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" y="3858768"/>
            <a:ext cx="128016" cy="128016"/>
          </a:xfrm>
          <a:prstGeom prst="ellipse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97280" y="373989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Her adımda amaç fonksiyonu azalır</a:t>
            </a:r>
            <a:endParaRPr lang="en-US" sz="1350" dirty="0"/>
          </a:p>
        </p:txBody>
      </p:sp>
      <p:sp>
        <p:nvSpPr>
          <p:cNvPr id="15" name="kart"/>
          <p:cNvSpPr/>
          <p:nvPr/>
        </p:nvSpPr>
        <p:spPr>
          <a:xfrm>
            <a:off x="4663440" y="1097280"/>
            <a:ext cx="4023360" cy="3520440"/>
          </a:xfrm>
          <a:prstGeom prst="roundRect">
            <a:avLst>
              <a:gd name="adj" fmla="val 3117"/>
            </a:avLst>
          </a:prstGeom>
          <a:solidFill>
            <a:srgbClr val="F3F4F6"/>
          </a:solidFill>
          <a:ln w="12700">
            <a:solidFill>
              <a:srgbClr val="F3F4F6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892040" y="1261872"/>
            <a:ext cx="457200" cy="457200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892040" y="12618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✗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0" y="1307592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rgbClr val="C0392B"/>
                </a:solidFill>
              </a:rPr>
              <a:t>Sınırlar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010912" y="1993392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5303520" y="1874520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K önceden seçilmeli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010912" y="2615184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303520" y="2496312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Küresel, benzer boyutlu kümeler varsayar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010912" y="3236976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5303520" y="3118104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Aykırı değerlere ve ölçeğe duyarlı</a:t>
            </a:r>
            <a:endParaRPr lang="en-US" sz="1350" dirty="0"/>
          </a:p>
        </p:txBody>
      </p:sp>
      <p:sp>
        <p:nvSpPr>
          <p:cNvPr id="25" name="Shape 23"/>
          <p:cNvSpPr/>
          <p:nvPr/>
        </p:nvSpPr>
        <p:spPr>
          <a:xfrm>
            <a:off x="5010912" y="3858768"/>
            <a:ext cx="128016" cy="128016"/>
          </a:xfrm>
          <a:prstGeom prst="ellipse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303520" y="3739896"/>
            <a:ext cx="3246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1F2937"/>
                </a:solidFill>
              </a:rPr>
              <a:t>Kategorik özellikleri doğal işlemez</a:t>
            </a:r>
            <a:endParaRPr lang="en-US" sz="13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80060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6B7280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737360"/>
            <a:ext cx="8046720" cy="914400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Sonuç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1D5DB"/>
                </a:solidFill>
              </a:rPr>
              <a:t>K göz kararı değil, kuralla seçildi: K=3, silhouette 0,21 → 0,33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1D5DB"/>
                </a:solidFill>
              </a:rPr>
              <a:t>Üç anlamlı grup: genç oyuncular, deneyimli düzenli oyuncular, kariyerli yıldızlar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D1D5DB"/>
                </a:solidFill>
              </a:rPr>
              <a:t>Kod, model, grafikler ve rapor: github.com/yagizefecsoy/transfermarkt-ml-project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utbol Kumeleme">
  <a:themeElements>
    <a:clrScheme name="Futbol Kumeleme">
      <a:dk1>
        <a:srgbClr val="1F2937"/>
      </a:dk1>
      <a:lt1>
        <a:srgbClr val="FFFFFF"/>
      </a:lt1>
      <a:dk2>
        <a:srgbClr val="1B2432"/>
      </a:dk2>
      <a:lt2>
        <a:srgbClr val="F3F4F6"/>
      </a:lt2>
      <a:accent1>
        <a:srgbClr val="7B2CBF"/>
      </a:accent1>
      <a:accent2>
        <a:srgbClr val="F4A261"/>
      </a:accent2>
      <a:accent3>
        <a:srgbClr val="2A9D8F"/>
      </a:accent3>
      <a:accent4>
        <a:srgbClr val="9CA3AF"/>
      </a:accent4>
      <a:accent5>
        <a:srgbClr val="264653"/>
      </a:accent5>
      <a:accent6>
        <a:srgbClr val="E9C46A"/>
      </a:accent6>
      <a:hlink>
        <a:srgbClr val="7B2CBF"/>
      </a:hlink>
      <a:folHlink>
        <a:srgbClr val="F4A261"/>
      </a:folHlink>
    </a:clrScheme>
    <a:fontScheme name="Futbol Kumeleme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K-Means ile Futbolcu Segmentasyonu</dc:title>
  <dc:subject>PptxGenJS Presentation</dc:subject>
  <dc:creator>Yağız Efe Çiçekçisoy</dc:creator>
  <cp:lastModifiedBy>Yağız Efe Çiçekçisoy</cp:lastModifiedBy>
  <cp:revision>1</cp:revision>
  <dcterms:created xsi:type="dcterms:W3CDTF">2026-10-26T14:01:59Z</dcterms:created>
  <dcterms:modified xsi:type="dcterms:W3CDTF">2026-10-26T14:01:59Z</dcterms:modified>
</cp:coreProperties>
</file>