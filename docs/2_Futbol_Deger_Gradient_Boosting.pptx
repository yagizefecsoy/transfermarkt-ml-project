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70132119-6D08-8A13-3342-317DE7997087}">
          <p14:sldIdLst>
            <p14:sldId id="256"/>
          </p14:sldIdLst>
        </p14:section>
        <p14:section name="Algoritma" id="{B906E053-64F1-A135-AF06-997302D46A20}">
          <p14:sldIdLst>
            <p14:sldId id="257"/>
            <p14:sldId id="258"/>
            <p14:sldId id="259"/>
            <p14:sldId id="260"/>
            <p14:sldId id="261"/>
          </p14:sldIdLst>
        </p14:section>
        <p14:section name="Proje yolculuğu" id="{DB3E56D6-4FC6-745A-EFFB-3F32092A24D9}">
          <p14:sldIdLst>
            <p14:sldId id="262"/>
            <p14:sldId id="263"/>
            <p14:sldId id="264"/>
            <p14:sldId id="265"/>
            <p14:sldId id="266"/>
          </p14:sldIdLst>
        </p14:section>
        <p14:section name="Sonuçlar" id="{E2DEE2CC-A52F-CE07-63F8-03AF573976E8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j-lt"/>
              </a:defRPr>
            </a:pPr>
            <a:r>
              <a:rPr lang="tr-TR" sz="1200" b="0" i="0" u="none" strike="noStrike">
                <a:solidFill>
                  <a:srgbClr val="1F2937"/>
                </a:solidFill>
                <a:latin typeface="+mj-lt"/>
              </a:rPr>
              <a:t>Tahmini ±%50 içinde olan oyuncular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±%50 içinde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70-4439-8FB9-2ED8898936CF}"/>
              </c:ext>
            </c:extLst>
          </c:dPt>
          <c:dPt>
            <c:idx val="1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70-4439-8FB9-2ED8898936CF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70-4439-8FB9-2ED8898936C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Ek özellik yok</c:v>
                </c:pt>
                <c:pt idx="1">
                  <c:v>+ 1 yıl önceki değer</c:v>
                </c:pt>
                <c:pt idx="2">
                  <c:v>+ önceki değer + sözleşme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53.6</c:v>
                </c:pt>
                <c:pt idx="1">
                  <c:v>69.900000000000006</c:v>
                </c:pt>
                <c:pt idx="2">
                  <c:v>70.900000000000006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70-4439-8FB9-2ED8898936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48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Transfermarkt verisiyle futbolcuların piyasa değerini tahmin eden regresyon modelimi anlatıyorum.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bir büyük ağaç yerine çok sayıda küçük ağaç sırayla eklenir; her yeni ağaç o ana kadarki modelin hatalarını öğrenir.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1B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D1D5DB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solidFill>
          <a:srgbClr val="1B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D1D5DB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Yağız Efe Çiçekçisoy · Foundations &amp; Applications of AI · Assignment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651760" cy="411480"/>
          </a:xfrm>
          <a:prstGeom prst="roundRect">
            <a:avLst>
              <a:gd name="adj" fmla="val 4888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Gradient Boosting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ile Futbolcu Piyasa Değeri Tahmini</a:t>
            </a:r>
            <a:endParaRPr lang="en-US" sz="3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1D5DB"/>
                </a:solidFill>
              </a:rPr>
              <a:t>Yağız Efe Çiçekçisoy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Foundations &amp; Applications of AI · Assignment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Ekim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fikir: ağaçlar hatayı adım adım düzeltir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Başlangıç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ortalama değer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39696" y="118872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2139696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 Ağaç 1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hatanın kabası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22192" y="118872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3822192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 Ağaç 2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kalan hata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04688" y="118872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5504688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 …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500 ağaç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87184" y="118872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7187184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= Tahmin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log ölçeğinde toplam</a:t>
            </a:r>
            <a:endParaRPr lang="en-US" sz="1400" dirty="0"/>
          </a:p>
        </p:txBody>
      </p:sp>
      <p:pic>
        <p:nvPicPr>
          <p:cNvPr id="13" name="Image 0" descr="C:\Users\pc\AppData\Local\Temp\claude\C--Users-pc-Desktop-24-10-2026--devler\9e5358d5-cdd5-494c-8e75-6a17e77169ad\scratchpad\deck\fig\gb_step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377440"/>
            <a:ext cx="8229600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Matematik: tahmin = ağaçların toplamı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</a:rPr>
              <a:t>Her adımda bir ağaç eklenir</a:t>
            </a:r>
            <a:endParaRPr lang="en-US" sz="1500" dirty="0"/>
          </a:p>
        </p:txBody>
      </p:sp>
      <p:pic>
        <p:nvPicPr>
          <p:cNvPr id="5" name="Image 0" descr="C:\Users\pc\AppData\Local\Temp\claude\C--Users-pc-Desktop-24-10-2026--devler\9e5358d5-cdd5-494c-8e75-6a17e77169ad\scratchpad\deck\fig\s_gb_ad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402336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0" y="12801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Yeni ağaç (h) mevcut tahmine küçük bir düzeltme ekler. η = 0,03: her adım küçük ve temkinli.</a:t>
            </a:r>
            <a:endParaRPr lang="en-US" sz="1400" dirty="0"/>
          </a:p>
        </p:txBody>
      </p:sp>
      <p:sp>
        <p:nvSpPr>
          <p:cNvPr id="7" name="kart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</a:rPr>
              <a:t>Yeni ağaç neyi öğrenir?</a:t>
            </a:r>
            <a:endParaRPr lang="en-US" sz="1500" dirty="0"/>
          </a:p>
        </p:txBody>
      </p:sp>
      <p:pic>
        <p:nvPicPr>
          <p:cNvPr id="9" name="Image 1" descr="C:\Users\pc\AppData\Local\Temp\claude\C--Users-pc-Desktop-24-10-2026--devler\9e5358d5-cdd5-494c-8e75-6a17e77169ad\scratchpad\deck\fig\s_gb_r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520440"/>
            <a:ext cx="4023360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29200" y="31546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Önceki adımın hatasını: gerçek − tahmin. Değerler log ölçeğinde öğrenilir, böylece yıldızlar hatayı domine etmez.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log ölçeği? Hedefin dağılımı</a:t>
            </a:r>
            <a:endParaRPr lang="en-US" sz="3000" dirty="0"/>
          </a:p>
        </p:txBody>
      </p:sp>
      <p:pic>
        <p:nvPicPr>
          <p:cNvPr id="3" name="Image 0" descr="C:\Users\pc\AppData\Local\Temp\claude\C--Users-pc-Desktop-24-10-2026--devler\9e5358d5-cdd5-494c-8e75-6a17e77169ad\scratchpad\deck\fig\gb_target_l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8229600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0,8M €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medyan değer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 €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en yüksek değer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log ile tipik hatadaki düşüş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süreci</a:t>
            </a:r>
            <a:endParaRPr lang="en-US" sz="3000" dirty="0"/>
          </a:p>
        </p:txBody>
      </p:sp>
      <p:sp>
        <p:nvSpPr>
          <p:cNvPr id="3" name="adim"/>
          <p:cNvSpPr/>
          <p:nvPr/>
        </p:nvSpPr>
        <p:spPr>
          <a:xfrm>
            <a:off x="457200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512064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Ayrım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%80 eğitim / %20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49501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adim"/>
          <p:cNvSpPr/>
          <p:nvPr/>
        </p:nvSpPr>
        <p:spPr>
          <a:xfrm>
            <a:off x="2150669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2205533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doldurma, one-hot, ölçek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42970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adim"/>
          <p:cNvSpPr/>
          <p:nvPr/>
        </p:nvSpPr>
        <p:spPr>
          <a:xfrm>
            <a:off x="3844138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3899002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5-katlı CV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Ridge · RF · GB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36438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adim"/>
          <p:cNvSpPr/>
          <p:nvPr/>
        </p:nvSpPr>
        <p:spPr>
          <a:xfrm>
            <a:off x="5537606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5592470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Seçim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 düşük CV MAE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29907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adim"/>
          <p:cNvSpPr/>
          <p:nvPr/>
        </p:nvSpPr>
        <p:spPr>
          <a:xfrm>
            <a:off x="7231075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7285939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tek sefer</a:t>
            </a:r>
            <a:endParaRPr lang="en-US" sz="1300" dirty="0"/>
          </a:p>
        </p:txBody>
      </p:sp>
      <p:sp>
        <p:nvSpPr>
          <p:cNvPr id="17" name="kart"/>
          <p:cNvSpPr/>
          <p:nvPr/>
        </p:nvSpPr>
        <p:spPr>
          <a:xfrm>
            <a:off x="457200" y="25146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 txBox="1"/>
          <p:nvPr/>
        </p:nvSpPr>
        <p:spPr>
          <a:xfrm>
            <a:off x="640080" y="26517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Bir ağaç nasıl büyür?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HistGradientBoosting her özelliği 255 kutuya (histogram) böler. Her bölünmede artık hatayı en çok azaltan eşik seçilir; ağaç en fazla 31 yaprağa kadar büyür.</a:t>
            </a:r>
            <a:endParaRPr lang="en-US" sz="1300" dirty="0"/>
          </a:p>
        </p:txBody>
      </p:sp>
      <p:sp>
        <p:nvSpPr>
          <p:cNvPr id="19" name="kart"/>
          <p:cNvSpPr/>
          <p:nvPr/>
        </p:nvSpPr>
        <p:spPr>
          <a:xfrm>
            <a:off x="4709160" y="25146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4892040" y="26517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6A4F"/>
                </a:solidFill>
              </a:rPr>
              <a:t>Seçilen ayarlar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learning_rate = 0,03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max_leaf_nodes = 31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max_iter = 500 ağaç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Hedef: log(1 + değer)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Tahmin mekanizması</a:t>
            </a:r>
            <a:endParaRPr lang="en-US" sz="3000" dirty="0"/>
          </a:p>
        </p:txBody>
      </p:sp>
      <p:pic>
        <p:nvPicPr>
          <p:cNvPr id="3" name="Image 0" descr="C:\Users\pc\AppData\Local\Temp\claude\C--Users-pc-Desktop-24-10-2026--devler\9e5358d5-cdd5-494c-8e75-6a17e77169ad\scratchpad\deck\fig\s_gb_pr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97280"/>
            <a:ext cx="237744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004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log ölçeğindeki toplam tahmin, €'ya geri çevrilir</a:t>
            </a:r>
            <a:endParaRPr lang="en-US" sz="1400" dirty="0"/>
          </a:p>
        </p:txBody>
      </p:sp>
      <p:sp>
        <p:nvSpPr>
          <p:cNvPr id="5" name="adim"/>
          <p:cNvSpPr/>
          <p:nvPr/>
        </p:nvSpPr>
        <p:spPr>
          <a:xfrm>
            <a:off x="457200" y="2057400"/>
            <a:ext cx="1879092" cy="96012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512064" y="2057400"/>
            <a:ext cx="1769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Oyuncu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yaş, lig, maç, gol…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72868" y="241858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adim"/>
          <p:cNvSpPr/>
          <p:nvPr/>
        </p:nvSpPr>
        <p:spPr>
          <a:xfrm>
            <a:off x="2574036" y="2057400"/>
            <a:ext cx="1879092" cy="96012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2628900" y="2057400"/>
            <a:ext cx="1769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Ön işleme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eğitimde öğrenilen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9704" y="241858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adim"/>
          <p:cNvSpPr/>
          <p:nvPr/>
        </p:nvSpPr>
        <p:spPr>
          <a:xfrm>
            <a:off x="4690872" y="2057400"/>
            <a:ext cx="1879092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4745736" y="2057400"/>
            <a:ext cx="1769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500 ağaç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log tahminleri toplanır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06540" y="241858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adim"/>
          <p:cNvSpPr/>
          <p:nvPr/>
        </p:nvSpPr>
        <p:spPr>
          <a:xfrm>
            <a:off x="6807708" y="2057400"/>
            <a:ext cx="1879092" cy="960120"/>
          </a:xfrm>
          <a:prstGeom prst="roundRect">
            <a:avLst>
              <a:gd name="adj" fmla="val 11429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 txBox="1"/>
          <p:nvPr/>
        </p:nvSpPr>
        <p:spPr>
          <a:xfrm>
            <a:off x="6862572" y="2057400"/>
            <a:ext cx="1769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€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exp(·) − 1</a:t>
            </a:r>
            <a:endParaRPr lang="en-US" sz="1300" dirty="0"/>
          </a:p>
        </p:txBody>
      </p:sp>
      <p:sp>
        <p:nvSpPr>
          <p:cNvPr id="16" name="kart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685800" y="33649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Örnek: Victor Osimhen  </a:t>
            </a:r>
            <a:r>
              <a:rPr lang="en-US" sz="1300" dirty="0">
                <a:solidFill>
                  <a:srgbClr val="6B7280"/>
                </a:solidFill>
              </a:rPr>
              <a:t>(27 yaş, Süper Lig, 279 maç, 161 gol, 1 yıl önce 70M €, sözleşme 3 yıl)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58,7M €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tahmin   ·   gerçek </a:t>
            </a:r>
            <a:r>
              <a:rPr lang="en-US" sz="1500" dirty="0" err="1">
                <a:solidFill>
                  <a:srgbClr val="1F2937"/>
                </a:solidFill>
              </a:rPr>
              <a:t>değer</a:t>
            </a:r>
            <a:r>
              <a:rPr lang="en-US" sz="1500" dirty="0">
                <a:solidFill>
                  <a:srgbClr val="1F2937"/>
                </a:solidFill>
              </a:rPr>
              <a:t> </a:t>
            </a:r>
            <a:r>
              <a:rPr lang="tr-TR" sz="1500" dirty="0">
                <a:solidFill>
                  <a:srgbClr val="1F2937"/>
                </a:solidFill>
              </a:rPr>
              <a:t>6</a:t>
            </a:r>
            <a:r>
              <a:rPr lang="en-US" sz="1500" dirty="0">
                <a:solidFill>
                  <a:srgbClr val="1F2937"/>
                </a:solidFill>
              </a:rPr>
              <a:t>5M 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yolculuğum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Önce kendim kurdum, sonra AI Agent'ımdan aldığım önerileri inceleyip uyguladım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Veri: Transfermarkt (Kaggle)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50.149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ham oyuncu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13.405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temiz, aktif oyuncu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özellik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eğitim / test (%)</a:t>
            </a:r>
            <a:endParaRPr lang="en-US" sz="1200" dirty="0"/>
          </a:p>
        </p:txBody>
      </p:sp>
      <p:sp>
        <p:nvSpPr>
          <p:cNvPr id="11" name="kart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685800" y="2743200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Tablolar: </a:t>
            </a:r>
            <a:r>
              <a:rPr lang="en-US" sz="1300" dirty="0">
                <a:solidFill>
                  <a:srgbClr val="1F2937"/>
                </a:solidFill>
              </a:rPr>
              <a:t>players, appearances (maç bazlı), clubs, player_valuations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Hedef: </a:t>
            </a:r>
            <a:r>
              <a:rPr lang="en-US" sz="1300" dirty="0">
                <a:solidFill>
                  <a:srgbClr val="1F2937"/>
                </a:solidFill>
              </a:rPr>
              <a:t>market_value_in_eur — regresyon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Özellikler: </a:t>
            </a:r>
            <a:r>
              <a:rPr lang="en-US" sz="1300" dirty="0">
                <a:solidFill>
                  <a:srgbClr val="1F2937"/>
                </a:solidFill>
              </a:rPr>
              <a:t>yaş, boy, ayak, mevki, lig, uyruk, milli maç/gol, kariyer maç/gol/asist/dakika/kart, oranlar, 1 yıl önceki değer, sözleşme süresi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Eksik veri: </a:t>
            </a:r>
            <a:r>
              <a:rPr lang="en-US" sz="1300" dirty="0">
                <a:solidFill>
                  <a:srgbClr val="1F2937"/>
                </a:solidFill>
              </a:rPr>
              <a:t>boy ve önceki değer medyanla, kategoriler "Unknown" ile; "eksikti" bilgisi ayrı sütunda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Benim kurduğum ilk sürüm</a:t>
            </a:r>
            <a:endParaRPr lang="en-US" sz="3000" dirty="0"/>
          </a:p>
        </p:txBody>
      </p:sp>
      <p:sp>
        <p:nvSpPr>
          <p:cNvPr id="3" name="adim"/>
          <p:cNvSpPr/>
          <p:nvPr/>
        </p:nvSpPr>
        <p:spPr>
          <a:xfrm>
            <a:off x="457200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512064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Keşif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11 tabloyu inceledim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2868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adim"/>
          <p:cNvSpPr/>
          <p:nvPr/>
        </p:nvSpPr>
        <p:spPr>
          <a:xfrm>
            <a:off x="2574036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2628900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Birleştirme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maçları oyuncu bazında topladım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adim"/>
          <p:cNvSpPr/>
          <p:nvPr/>
        </p:nvSpPr>
        <p:spPr>
          <a:xfrm>
            <a:off x="4690872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4745736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Temizlik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aktif oyuncu, yaş filtresi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6540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adim"/>
          <p:cNvSpPr/>
          <p:nvPr/>
        </p:nvSpPr>
        <p:spPr>
          <a:xfrm>
            <a:off x="6807708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862572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Modeller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Lineer Reg. vs Random Forest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Lineer Regresyon R²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Random Forest R²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606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2,25M €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Random Forest MAE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Yaş ile değer arasındaki ilişki doğrusal olmadığı için ağaç tabanlı model açık ara öndeydi.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Agent'ımdan aldığım geliştirme önerileri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1885950" cy="3520440"/>
          </a:xfrm>
          <a:prstGeom prst="roundRect">
            <a:avLst>
              <a:gd name="adj" fmla="val 58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16152"/>
            <a:ext cx="1062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2"/>
                </a:solidFill>
              </a:rPr>
              <a:t>Log dönüşümü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15201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Sadece R²'ye bakıp log'u geri almıştım.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15201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Diğer ölçütlere de bakmayı önerdi. Kontrol ettim, tipik hata %41 düştü. Geri getirdim.</a:t>
            </a:r>
            <a:endParaRPr lang="en-US" sz="1200" dirty="0"/>
          </a:p>
        </p:txBody>
      </p:sp>
      <p:sp>
        <p:nvSpPr>
          <p:cNvPr id="11" name="kart"/>
          <p:cNvSpPr/>
          <p:nvPr/>
        </p:nvSpPr>
        <p:spPr>
          <a:xfrm>
            <a:off x="2571750" y="1097280"/>
            <a:ext cx="1885950" cy="3520440"/>
          </a:xfrm>
          <a:prstGeom prst="roundRect">
            <a:avLst>
              <a:gd name="adj" fmla="val 58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754630" y="12344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275463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57550" y="1216152"/>
            <a:ext cx="1062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2"/>
                </a:solidFill>
              </a:rPr>
              <a:t>Veri sızıntısı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754630" y="182880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057400"/>
            <a:ext cx="15201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Doldurma ve one-hot, ayrımdan önce tüm veride yapılıyordu.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92608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754630" y="3154680"/>
            <a:ext cx="15201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Pipeline'a taşımayı önerdi. Artık sadece eğitim verisinden öğreniliyor.</a:t>
            </a:r>
            <a:endParaRPr lang="en-US" sz="1200" dirty="0"/>
          </a:p>
        </p:txBody>
      </p:sp>
      <p:sp>
        <p:nvSpPr>
          <p:cNvPr id="19" name="kart"/>
          <p:cNvSpPr/>
          <p:nvPr/>
        </p:nvSpPr>
        <p:spPr>
          <a:xfrm>
            <a:off x="4686300" y="1097280"/>
            <a:ext cx="1885950" cy="3520440"/>
          </a:xfrm>
          <a:prstGeom prst="roundRect">
            <a:avLst>
              <a:gd name="adj" fmla="val 58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1216152"/>
            <a:ext cx="1062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2"/>
                </a:solidFill>
              </a:rPr>
              <a:t>Model seçimi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182880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69180" y="2057400"/>
            <a:ext cx="15201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Tek model, tek bölme vardı.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69180" y="292608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869180" y="3154680"/>
            <a:ext cx="15201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CV ile karşılaştırmayı önerdi. Ridge, RF, GB denedim; GB önde çıktı.</a:t>
            </a:r>
            <a:endParaRPr lang="en-US" sz="1200" dirty="0"/>
          </a:p>
        </p:txBody>
      </p:sp>
      <p:sp>
        <p:nvSpPr>
          <p:cNvPr id="27" name="kart"/>
          <p:cNvSpPr/>
          <p:nvPr/>
        </p:nvSpPr>
        <p:spPr>
          <a:xfrm>
            <a:off x="6800850" y="1097280"/>
            <a:ext cx="1885950" cy="3520440"/>
          </a:xfrm>
          <a:prstGeom prst="roundRect">
            <a:avLst>
              <a:gd name="adj" fmla="val 58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6983730" y="12344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 txBox="1"/>
          <p:nvPr/>
        </p:nvSpPr>
        <p:spPr>
          <a:xfrm>
            <a:off x="698373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486650" y="1216152"/>
            <a:ext cx="1062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2"/>
                </a:solidFill>
              </a:rPr>
              <a:t>Yeni özellikler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983730" y="182880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983730" y="2057400"/>
            <a:ext cx="15201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Model sadece kariyer istatistiğine bakıyordu.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83730" y="2926080"/>
            <a:ext cx="152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983730" y="3154680"/>
            <a:ext cx="15201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 yıl önceki değer + sözleşme süresini önerdi. 3 sürümü test edip ikisini aldım.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özellikler: 3 sürüm, aynı test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88720"/>
          <a:ext cx="374904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Szymański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22M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937760" y="2971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Sızıntı olmasın diye önceki değer olarak hedeften en az 1 yıl önceki değerlemeyi kullandım. *Raya eğitim verisinde.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sonuçları: 2.681 oyuncu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27767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(RF, log yok)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GB, ek özellik yok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2,57·10¹³ €²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2,83·10¹³ €²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1,44·10¹³ €²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3,80M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Medyan hata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 bin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 bin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 bin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±%50 içinde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oyuncu ±%50 içinde (önce 4/10)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2 kat veya daha fazla yanlış (önce %47)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MSE ve RMSE büyük hataları karesiyle cezalandırır; birkaç pahalı yıldız bu ölçütleri domine ediyor.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vs tahmin ve özellik önemi</a:t>
            </a:r>
            <a:endParaRPr lang="en-US" sz="3000" dirty="0"/>
          </a:p>
        </p:txBody>
      </p:sp>
      <p:pic>
        <p:nvPicPr>
          <p:cNvPr id="3" name="Image 0" descr="C:\Users\pc\PycharmProjects\transfermarkt-ml-project\reports\figures\gercek_vs_tah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3840480" cy="3383280"/>
          </a:xfrm>
          <a:prstGeom prst="rect">
            <a:avLst/>
          </a:prstGeom>
        </p:spPr>
      </p:pic>
      <p:pic>
        <p:nvPicPr>
          <p:cNvPr id="4" name="Image 1" descr="C:\Users\pc\PycharmProjects\transfermarkt-ml-project\reports\figures\ozellik_onemi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960120"/>
            <a:ext cx="4114800" cy="3383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En önemli özellikler: 1 yıl önceki değer, yaş, lig, oynanan dakika.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Öğrenme eğrisi</a:t>
            </a:r>
            <a:endParaRPr lang="en-US" sz="3000" dirty="0"/>
          </a:p>
        </p:txBody>
      </p:sp>
      <p:pic>
        <p:nvPicPr>
          <p:cNvPr id="3" name="Image 0" descr="C:\Users\pc\PycharmProjects\transfermarkt-ml-project\reports\figures\ogrenme_egris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4937760" cy="3611880"/>
          </a:xfrm>
          <a:prstGeom prst="rect">
            <a:avLst/>
          </a:prstGeom>
        </p:spPr>
      </p:pic>
      <p:sp>
        <p:nvSpPr>
          <p:cNvPr id="4" name="kart"/>
          <p:cNvSpPr/>
          <p:nvPr/>
        </p:nvSpPr>
        <p:spPr>
          <a:xfrm>
            <a:off x="5669280" y="109728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5852160" y="1234440"/>
            <a:ext cx="2697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Ne söylüyor?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Doğrulama hatası veri arttıkça 1,77M €'dan 1,38M €'ya düşüyor ve hâlâ hafifçe iniyor.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Eğitim ve doğrulama arasındaki açıklık: model veriyi biraz ezberliyor; daha fazla oyuncu verisi işe yarar.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 ve sınırlar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07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</a:rPr>
              <a:t>Güçlü yanlar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199339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109728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Doğrusal olmayan ilişkileri yakalar (yaş → değer)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615184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109728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Eksik değerle ve karışık özelliklerle çalışır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6976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1097280" y="31181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Histogram yöntemi ile 13 bin oyuncuda hızlı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858768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1097280" y="37398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Özellik önemi ile yorumlanabilir</a:t>
            </a:r>
            <a:endParaRPr lang="en-US" sz="1350" dirty="0"/>
          </a:p>
        </p:txBody>
      </p:sp>
      <p:sp>
        <p:nvSpPr>
          <p:cNvPr id="15" name="kart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92040" y="126187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48920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307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</a:rPr>
              <a:t>Sınırlar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10912" y="199339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530352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Değeri birden yükselen gençleri kaçırır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10912" y="261518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530352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Geçmiş değere çok dayanır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10912" y="323697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 txBox="1"/>
          <p:nvPr/>
        </p:nvSpPr>
        <p:spPr>
          <a:xfrm>
            <a:off x="5303520" y="31181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Sözleşme, sakatlık, form gibi bilgiler eksik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10912" y="38587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5303520" y="37398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Ayar sayısı fazla, aşırı öğrenmeye açık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Tipik hata 636 bin €'dan 235 bin €'ya indi; R² 0,70 → 0,83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En büyük kazanç: log dönüşümü ve 1 yıl önceki değer; hepsi aynı test oyuncularında ölçüldü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Kod, model, grafikler ve rapor: github.com/yagizefecsoy/transfermarkt-ml-project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bol Deger">
  <a:themeElements>
    <a:clrScheme name="Futbol Deger">
      <a:dk1>
        <a:srgbClr val="1F2937"/>
      </a:dk1>
      <a:lt1>
        <a:srgbClr val="FFFFFF"/>
      </a:lt1>
      <a:dk2>
        <a:srgbClr val="1B2432"/>
      </a:dk2>
      <a:lt2>
        <a:srgbClr val="F3F4F6"/>
      </a:lt2>
      <a:accent1>
        <a:srgbClr val="2D6A4F"/>
      </a:accent1>
      <a:accent2>
        <a:srgbClr val="E9C46A"/>
      </a:accent2>
      <a:accent3>
        <a:srgbClr val="40916C"/>
      </a:accent3>
      <a:accent4>
        <a:srgbClr val="9CA3AF"/>
      </a:accent4>
      <a:accent5>
        <a:srgbClr val="264653"/>
      </a:accent5>
      <a:accent6>
        <a:srgbClr val="E9C46A"/>
      </a:accent6>
      <a:hlink>
        <a:srgbClr val="2D6A4F"/>
      </a:hlink>
      <a:folHlink>
        <a:srgbClr val="E9C46A"/>
      </a:folHlink>
    </a:clrScheme>
    <a:fontScheme name="Futbol De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988</Words>
  <Application>Microsoft Office PowerPoint</Application>
  <PresentationFormat>Ekran Gösterisi (16:9)</PresentationFormat>
  <Paragraphs>223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Futbol Deger</vt:lpstr>
      <vt:lpstr>Gradient Boosting ile Futbolcu Piyasa Değeri Tahmini</vt:lpstr>
      <vt:lpstr>Temel fikir: ağaçlar hatayı adım adım düzeltir</vt:lpstr>
      <vt:lpstr>Matematik: tahmin = ağaçların toplamı</vt:lpstr>
      <vt:lpstr>Neden log ölçeği? Hedefin dağılımı</vt:lpstr>
      <vt:lpstr>Eğitim süreci</vt:lpstr>
      <vt:lpstr>Tahmin mekanizması</vt:lpstr>
      <vt:lpstr>Proje yolculuğum</vt:lpstr>
      <vt:lpstr>Veri: Transfermarkt (Kaggle)</vt:lpstr>
      <vt:lpstr>Benim kurduğum ilk sürüm</vt:lpstr>
      <vt:lpstr>AI Agent'ımdan aldığım geliştirme önerileri</vt:lpstr>
      <vt:lpstr>Yeni özellikler: 3 sürüm, aynı test</vt:lpstr>
      <vt:lpstr>Test sonuçları: 2.681 oyuncu</vt:lpstr>
      <vt:lpstr>Gerçek vs tahmin ve özellik önemi</vt:lpstr>
      <vt:lpstr>Öğrenme eğrisi</vt:lpstr>
      <vt:lpstr>Avantajlar ve sınırlar</vt:lpstr>
      <vt:lpstr>Sonuç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Boosting ile Futbolcu Piyasa Değeri Tahmini</dc:title>
  <dc:subject>PptxGenJS Presentation</dc:subject>
  <dc:creator>Yağız Efe Çiçekçisoy</dc:creator>
  <cp:lastModifiedBy>Yağız Efe Çiçekçisoy</cp:lastModifiedBy>
  <cp:revision>2</cp:revision>
  <dcterms:created xsi:type="dcterms:W3CDTF">2026-10-26T14:01:59Z</dcterms:created>
  <dcterms:modified xsi:type="dcterms:W3CDTF">2026-10-26T14:09:52Z</dcterms:modified>
</cp:coreProperties>
</file>